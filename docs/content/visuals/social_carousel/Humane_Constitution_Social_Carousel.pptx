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4ba8eae01a430a" /><Relationship Type="http://schemas.openxmlformats.org/officeDocument/2006/relationships/extended-properties" Target="/docProps/app.xml" Id="Rf5f86ca0d52c4ca1" /><Relationship Type="http://schemas.openxmlformats.org/officeDocument/2006/relationships/officeDocument" Target="/ppt/presentation.xml" Id="R2a623bcbf22040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e36c4fcf4c411d"/>
  </p:sldMasterIdLst>
  <p:notesMasterIdLst>
    <p:notesMasterId xmlns:r="http://schemas.openxmlformats.org/officeDocument/2006/relationships" r:id="Rceb1c9e45de348b1"/>
  </p:notesMasterIdLst>
  <p:sldIdLst>
    <p:sldId xmlns:r="http://schemas.openxmlformats.org/officeDocument/2006/relationships" id="256" r:id="R0f4192b0c4e44430"/>
    <p:sldId xmlns:r="http://schemas.openxmlformats.org/officeDocument/2006/relationships" id="257" r:id="R07e9d791400e48b4"/>
    <p:sldId xmlns:r="http://schemas.openxmlformats.org/officeDocument/2006/relationships" id="258" r:id="Rc634e0d83bc44b5f"/>
    <p:sldId xmlns:r="http://schemas.openxmlformats.org/officeDocument/2006/relationships" id="259" r:id="R824aeb726be440f0"/>
    <p:sldId xmlns:r="http://schemas.openxmlformats.org/officeDocument/2006/relationships" id="260" r:id="Rfd6865f84ce34411"/>
    <p:sldId xmlns:r="http://schemas.openxmlformats.org/officeDocument/2006/relationships" id="261" r:id="R30d203685790447d"/>
    <p:sldId xmlns:r="http://schemas.openxmlformats.org/officeDocument/2006/relationships" id="262" r:id="R522144584ecf44a7"/>
    <p:sldId xmlns:r="http://schemas.openxmlformats.org/officeDocument/2006/relationships" id="263" r:id="Rc38a549110c14428"/>
  </p:sldIdLst>
  <p:sldSz cx="10287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e36c4fcf4c411d" /><Relationship Type="http://schemas.openxmlformats.org/officeDocument/2006/relationships/theme" Target="/ppt/theme/theme1.xml" Id="R5e7e97403c67453c" /><Relationship Type="http://schemas.openxmlformats.org/officeDocument/2006/relationships/notesMaster" Target="/ppt/notesMasters/notesMaster1.xml" Id="Rceb1c9e45de348b1" /><Relationship Type="http://schemas.openxmlformats.org/officeDocument/2006/relationships/presProps" Target="/ppt/presProps.xml" Id="R03484b0ba9c346b1" /><Relationship Type="http://schemas.openxmlformats.org/officeDocument/2006/relationships/viewProps" Target="/ppt/viewProps.xml" Id="Rda3ccd0af16e478f" /><Relationship Type="http://schemas.openxmlformats.org/officeDocument/2006/relationships/tableStyles" Target="/ppt/tableStyles.xml" Id="Re5280da52ced43e0" /><Relationship Type="http://schemas.openxmlformats.org/officeDocument/2006/relationships/slide" Target="/ppt/slides/slide1.xml" Id="R0f4192b0c4e44430" /><Relationship Type="http://schemas.openxmlformats.org/officeDocument/2006/relationships/slide" Target="/ppt/slides/slide2.xml" Id="R07e9d791400e48b4" /><Relationship Type="http://schemas.openxmlformats.org/officeDocument/2006/relationships/slide" Target="/ppt/slides/slide3.xml" Id="Rc634e0d83bc44b5f" /><Relationship Type="http://schemas.openxmlformats.org/officeDocument/2006/relationships/slide" Target="/ppt/slides/slide4.xml" Id="R824aeb726be440f0" /><Relationship Type="http://schemas.openxmlformats.org/officeDocument/2006/relationships/slide" Target="/ppt/slides/slide5.xml" Id="Rfd6865f84ce34411" /><Relationship Type="http://schemas.openxmlformats.org/officeDocument/2006/relationships/slide" Target="/ppt/slides/slide6.xml" Id="R30d203685790447d" /><Relationship Type="http://schemas.openxmlformats.org/officeDocument/2006/relationships/slide" Target="/ppt/slides/slide7.xml" Id="R522144584ecf44a7" /><Relationship Type="http://schemas.openxmlformats.org/officeDocument/2006/relationships/slide" Target="/ppt/slides/slide8.xml" Id="Rc38a549110c144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4685e4e39bb4d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9c26190b644690" /><Relationship Type="http://schemas.openxmlformats.org/officeDocument/2006/relationships/notesMaster" Target="/ppt/notesMasters/notesMaster1.xml" Id="R82a16c4cfcd347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aaf2ee5272467d" /><Relationship Type="http://schemas.openxmlformats.org/officeDocument/2006/relationships/notesMaster" Target="/ppt/notesMasters/notesMaster1.xml" Id="Rf3d6239af97449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89bc55a4154e0d" /><Relationship Type="http://schemas.openxmlformats.org/officeDocument/2006/relationships/notesMaster" Target="/ppt/notesMasters/notesMaster1.xml" Id="R33ac043540114e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e1afdad015414a" /><Relationship Type="http://schemas.openxmlformats.org/officeDocument/2006/relationships/notesMaster" Target="/ppt/notesMasters/notesMaster1.xml" Id="Rd55abd46ba8349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4d737318cc4a2d" /><Relationship Type="http://schemas.openxmlformats.org/officeDocument/2006/relationships/notesMaster" Target="/ppt/notesMasters/notesMaster1.xml" Id="Rfd669b9cf51340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3fc113a7b64645" /><Relationship Type="http://schemas.openxmlformats.org/officeDocument/2006/relationships/notesMaster" Target="/ppt/notesMasters/notesMaster1.xml" Id="R3ea853abd6af49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6499ef043949c9" /><Relationship Type="http://schemas.openxmlformats.org/officeDocument/2006/relationships/notesMaster" Target="/ppt/notesMasters/notesMaster1.xml" Id="Rdec9aebf6d7b4d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e1d968ba2743af" /><Relationship Type="http://schemas.openxmlformats.org/officeDocument/2006/relationships/notesMaster" Target="/ppt/notesMasters/notesMaster1.xml" Id="R2af54952454e4f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if losing money did not mean losing the basics?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Humane Constitution starts with one claim:</a:t>
            </a:r>
          </a:p>
          <a:p xmlns:a="http://schemas.openxmlformats.org/drawingml/2006/main">
            <a:r>
              <a:t>survival should not depend on income, obedience, or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docs/content/Short_Form_Hooks.md</a:t>
            </a:r>
          </a:p>
          <a:p xmlns:a="http://schemas.openxmlformats.org/drawingml/2006/main">
            <a:r>
              <a:t>- docs/One_Page_Overview.md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money rail ends up deciding too much.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same money that buys food and shelter also buys investment, institutional access, and political insulation.</a:t>
            </a:r>
          </a:p>
          <a:p xmlns:a="http://schemas.openxmlformats.org/drawingml/2006/main">
            <a:r>
              <a:t>That is how wealth turns into coercion.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docs/One_Page_Overview.md</a:t>
            </a:r>
          </a:p>
          <a:p xmlns:a="http://schemas.openxmlformats.org/drawingml/2006/main">
            <a:r>
              <a:t>- White_Paper.md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survival, markets, and civic power.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force every social function through one balance.</a:t>
            </a:r>
          </a:p>
          <a:p xmlns:a="http://schemas.openxmlformats.org/drawingml/2006/main">
            <a:r>
              <a:t>That is the design move.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docs/One_Page_Overview.md</a:t>
            </a:r>
          </a:p>
          <a:p xmlns:a="http://schemas.openxmlformats.org/drawingml/2006/main">
            <a:r>
              <a:t>- White_Paper.md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Five tools. Five jobs.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Flow — markets</a:t>
            </a:r>
          </a:p>
          <a:p xmlns:a="http://schemas.openxmlformats.org/drawingml/2006/main">
            <a:r>
              <a:t>Essential Access — survival floor</a:t>
            </a:r>
          </a:p>
          <a:p xmlns:a="http://schemas.openxmlformats.org/drawingml/2006/main">
            <a:r>
              <a:t>Voice — civic priorities</a:t>
            </a:r>
          </a:p>
          <a:p xmlns:a="http://schemas.openxmlformats.org/drawingml/2006/main">
            <a:r>
              <a:t>Service Record — readiness to serve</a:t>
            </a:r>
          </a:p>
          <a:p xmlns:a="http://schemas.openxmlformats.org/drawingml/2006/main">
            <a:r>
              <a:t>Shared Storehouse — emergency shortage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docs/One_Page_Overview.md</a:t>
            </a:r>
          </a:p>
          <a:p xmlns:a="http://schemas.openxmlformats.org/drawingml/2006/main">
            <a:r>
              <a:t>- White_Paper.md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 a command economy.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Flow still runs wages, prices, contracts, saving, and enterprise.</a:t>
            </a:r>
          </a:p>
          <a:p xmlns:a="http://schemas.openxmlformats.org/drawingml/2006/main">
            <a:r>
              <a:t>The design limits what money can buy. It does not abolish markets.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docs/Public_FAQ.md</a:t>
            </a:r>
          </a:p>
          <a:p xmlns:a="http://schemas.openxmlformats.org/drawingml/2006/main">
            <a:r>
              <a:t>- White_Paper.md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 social credit.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Voice and Service Record cannot buy goods, rights, immunity, or survival access.</a:t>
            </a:r>
          </a:p>
          <a:p xmlns:a="http://schemas.openxmlformats.org/drawingml/2006/main">
            <a:r>
              <a:t>The constitution explicitly rejects any score of human worth.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docs/Public_FAQ.md</a:t>
            </a:r>
          </a:p>
          <a:p xmlns:a="http://schemas.openxmlformats.org/drawingml/2006/main">
            <a:r>
              <a:t>- White_Paper.md</a:t>
            </a:r>
          </a:p>
          <a:p xmlns:a="http://schemas.openxmlformats.org/drawingml/2006/main">
            <a:r>
              <a:t>- Citizen_Facing_Rights_Layer.md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Serious design. Not instant rollout.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exists: constitutional text, white paper, threat register, patch log, simulations.</a:t>
            </a:r>
          </a:p>
          <a:p xmlns:a="http://schemas.openxmlformats.org/drawingml/2006/main">
            <a:r>
              <a:t>What does not yet exist: pilot proof, a proven non-coercive identity stack, and a legitimate founding coalition.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docs/One_Page_Overview.md</a:t>
            </a:r>
          </a:p>
          <a:p xmlns:a="http://schemas.openxmlformats.org/drawingml/2006/main">
            <a:r>
              <a:t>- docs/Public_FAQ.md</a:t>
            </a:r>
          </a:p>
          <a:p xmlns:a="http://schemas.openxmlformats.org/drawingml/2006/main">
            <a:r>
              <a:t>- White_Paper.md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it. Pressure it. Test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Start with the One-Page Overview and White Paper.</a:t>
            </a:r>
          </a:p>
          <a:p xmlns:a="http://schemas.openxmlformats.org/drawingml/2006/main">
            <a:r>
              <a:t>Then read the Threat Register and ask whether the separations can actually hold under stress.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docs/One_Page_Overview.md</a:t>
            </a:r>
          </a:p>
          <a:p xmlns:a="http://schemas.openxmlformats.org/drawingml/2006/main">
            <a:r>
              <a:t>- White_Paper.md</a:t>
            </a:r>
          </a:p>
          <a:p xmlns:a="http://schemas.openxmlformats.org/drawingml/2006/main">
            <a:r>
              <a:t>- docs/Public_FAQ.md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94601282d44f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B5EF60B6-B4CF-4FCB-8786-3B1C7116CE0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7890BA4-7B68-4465-8C8F-516E5EA19D4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24AC554-1356-4E32-9660-D0C6495C12C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F09697-ACBC-44A9-803B-384AC68B722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0E63FC-2860-4C22-974B-4EEC4DD6177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2d44e115a054879" /><Relationship Type="http://schemas.openxmlformats.org/officeDocument/2006/relationships/slideLayout" Target="/ppt/slideLayouts/slideLayout2.xml" Id="R933632316e6041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ABC10D-D1E7-4857-AF03-03E82858FDC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3632316e6041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3f5ab5c1784921" /><Relationship Type="http://schemas.openxmlformats.org/officeDocument/2006/relationships/notesSlide" Target="/ppt/notesSlides/notesSlide1.xml" Id="Rd10efdc345d14d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f62d2a91e0471c" /><Relationship Type="http://schemas.openxmlformats.org/officeDocument/2006/relationships/notesSlide" Target="/ppt/notesSlides/notesSlide2.xml" Id="Re54377c03fd641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74d6553c844fb5" /><Relationship Type="http://schemas.openxmlformats.org/officeDocument/2006/relationships/notesSlide" Target="/ppt/notesSlides/notesSlide3.xml" Id="Re795351469884a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6ac9a94dd14d90" /><Relationship Type="http://schemas.openxmlformats.org/officeDocument/2006/relationships/notesSlide" Target="/ppt/notesSlides/notesSlide4.xml" Id="R075c66232ab143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99a8ae0e6c4a3d" /><Relationship Type="http://schemas.openxmlformats.org/officeDocument/2006/relationships/notesSlide" Target="/ppt/notesSlides/notesSlide5.xml" Id="R7a98983a90e846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7238a0bfb94cf5" /><Relationship Type="http://schemas.openxmlformats.org/officeDocument/2006/relationships/notesSlide" Target="/ppt/notesSlides/notesSlide6.xml" Id="Rc63d62c1b82849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62a180dcd74529" /><Relationship Type="http://schemas.openxmlformats.org/officeDocument/2006/relationships/notesSlide" Target="/ppt/notesSlides/notesSlide7.xml" Id="R8b196d9b118a4a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cc54f7001e48ba" /><Relationship Type="http://schemas.openxmlformats.org/officeDocument/2006/relationships/notesSlide" Target="/ppt/notesSlides/notesSlide8.xml" Id="Rbb64b5905e6e44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0E63FC-2860-4C22-974B-4EEC4DD617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21A56-4AA6-474F-972F-71F53760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72DDA-92D4-492D-AA89-C5041432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75247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5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A7E82-2DB5-40C8-B577-D45D3EB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B53FB-541D-4D57-8136-A633522A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333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B5903-D6F1-4E8B-87FC-BAF68653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725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E392C-CDCD-4C14-A667-04499575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The hook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32FEE-0AAA-4529-900B-1F3DAD62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723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214"/>
                </a:solidFill>
              </a:defRPr>
            </a:pPr>
            <a:r>
              <a:rPr sz="4350" b="1">
                <a:solidFill>
                  <a:srgbClr val="101214"/>
                </a:solidFill>
              </a:rPr>
              <a:t>What if losing money did not mean losing the basics?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6B77E-017B-422E-B466-6F7110A8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8676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EE3D0-98E1-430D-99EE-D574415D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86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C8114-2E65-4F44-96E5-53FC86BF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7334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214"/>
                </a:solidFill>
              </a:defRPr>
            </a:pPr>
            <a:r>
              <a:rPr sz="2100" b="0">
                <a:solidFill>
                  <a:srgbClr val="101214"/>
                </a:solidFill>
              </a:rPr>
              <a:t>The Humane Constitution starts with one claim: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01214"/>
                </a:solidFill>
              </a:defRPr>
            </a:pPr>
            <a:r>
              <a:rPr sz="2100" b="0">
                <a:solidFill>
                  <a:srgbClr val="101214"/>
                </a:solidFill>
              </a:rPr>
              <a:t>survival should not depend on income, obedience, or approval.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0D1B2-A0DF-4795-8749-D819C6FC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7630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9785011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0E63FC-2860-4C22-974B-4EEC4DD617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45FDD-60CF-47D8-8B0B-28849E38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BAA54-B46C-4A0B-A6CF-68761735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75247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5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C8F4A-4534-48BF-AA2F-57A5D363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E346F-5273-407A-999F-E09A40D0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333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C191E-34E4-4DA8-89DF-92E4C6BA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725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BCBA7-92EA-413E-97BD-41B1C28B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The bug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05D8A-8E5F-4D62-B52D-4BF61A00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723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214"/>
                </a:solidFill>
              </a:defRPr>
            </a:pPr>
            <a:r>
              <a:rPr sz="4350" b="1">
                <a:solidFill>
                  <a:srgbClr val="101214"/>
                </a:solidFill>
              </a:rPr>
              <a:t>One money rail ends up deciding too much.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EB63A-D995-488F-BDA2-D60ECDBA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8676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04CA3-197C-4867-867E-BB4631A2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86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2EE33-4403-48B4-A255-42E1A945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7334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214"/>
                </a:solidFill>
              </a:defRPr>
            </a:pPr>
            <a:r>
              <a:rPr sz="2100" b="0">
                <a:solidFill>
                  <a:srgbClr val="101214"/>
                </a:solidFill>
              </a:rPr>
              <a:t>The same money that buys food and shelter also buys investment, institutional access, and political insulation.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01214"/>
                </a:solidFill>
              </a:defRPr>
            </a:pPr>
            <a:r>
              <a:rPr sz="2100" b="0">
                <a:solidFill>
                  <a:srgbClr val="101214"/>
                </a:solidFill>
              </a:rPr>
              <a:t>That is how wealth turns into coercion.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AFD03-E6EE-4111-83EE-C0CFC111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7630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13840193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0E63FC-2860-4C22-974B-4EEC4DD617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3ABA7-833C-4F8F-8C3F-451E8EAD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5BF4D-98E9-4D9A-869B-15FA9BF7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75247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5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C9798-E4BC-4A54-8E13-64E4104C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DBEEF-8F10-425D-BE3F-8FE8D522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333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07CF3-D2B4-490D-A7CD-A69253E2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725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D33FE-E484-45A3-8E5B-D4495CA3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The core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EC05E-7F45-4041-B8DF-4E68F241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723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214"/>
                </a:solidFill>
              </a:defRPr>
            </a:pPr>
            <a:r>
              <a:rPr sz="4350" b="1">
                <a:solidFill>
                  <a:srgbClr val="101214"/>
                </a:solidFill>
              </a:rPr>
              <a:t>Separate survival, markets, and civic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FE7F9-7214-4E7B-89C4-FDDFC2B6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8676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CFF41-72AF-419F-A8BF-F4053AD8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86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9A10F-6F16-4688-8682-566D8B02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7334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214"/>
                </a:solidFill>
              </a:defRPr>
            </a:pPr>
            <a:r>
              <a:rPr sz="2100" b="0">
                <a:solidFill>
                  <a:srgbClr val="101214"/>
                </a:solidFill>
              </a:rPr>
              <a:t>Do not force every social function through one balance.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01214"/>
                </a:solidFill>
              </a:defRPr>
            </a:pPr>
            <a:r>
              <a:rPr sz="2100" b="0">
                <a:solidFill>
                  <a:srgbClr val="101214"/>
                </a:solidFill>
              </a:rPr>
              <a:t>That is the design move.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1B932-F7BB-41C1-95E8-C60F052B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7630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1788357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0E63FC-2860-4C22-974B-4EEC4DD617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E8AD8-37B6-4592-8CDF-359A2BAE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6B9D5-292F-4C02-9F54-500E80CB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75247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5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7D72F-33E3-47C2-85A1-C47429F1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5E415-959C-45BC-BB56-096E8323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333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BA8BC-7089-4950-AEB8-03DBF0C0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725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FCECC-C1C5-49CC-A4FC-E314070A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The instruments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37A5E-9283-4905-A874-647BD726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723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214"/>
                </a:solidFill>
              </a:defRPr>
            </a:pPr>
            <a:r>
              <a:rPr sz="4350" b="1">
                <a:solidFill>
                  <a:srgbClr val="101214"/>
                </a:solidFill>
              </a:rPr>
              <a:t>Five tools. Five jobs.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142A9-5002-4BA0-B50A-356B8BF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78676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F498D-F697-4C34-923E-AED8A8F7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786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D5E75-B8C2-4CCF-AE49-6A68085B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69E1D-EC73-4265-B8D5-C60BDF84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Flow — markets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78893-A41B-4266-ABB3-BBCC4295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E2033-B902-4481-AEC0-AF2812D6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529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Essential Access — survival floor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B3664-7D10-4F5E-8136-1EB1995B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53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F9333-AC84-4410-8526-FDD06BE1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578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Voice — civic priorities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F9009-A73C-47CF-9B7B-63A7372D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57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7A97D-E410-4B59-977C-8A360C7B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626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Service Record — readiness to serve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5BAF3-870C-4ADD-9EAB-99D84BF1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76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F16AD-8F36-44CA-81DF-4738E698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675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214"/>
                </a:solidFill>
              </a:defRPr>
            </a:pPr>
            <a:r>
              <a:rPr sz="1800" b="0">
                <a:solidFill>
                  <a:srgbClr val="101214"/>
                </a:solidFill>
              </a:rPr>
              <a:t>Shared Storehouse — emergency shortage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396B4-537F-43B8-AB20-6DDC4280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7630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483808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0E63FC-2860-4C22-974B-4EEC4DD617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BB3CA-823F-4B61-8C07-AEC65706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AA83A-98D3-4B5E-8FDA-F6289AFD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75247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5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81187-253C-475A-8936-D2F0544B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D0C62-D5B4-41A8-B1BC-E72C2FC9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333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FA241-9E7A-4E3F-989B-F9FBD58F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725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49BCD-1B7E-4722-8A1B-900BF59C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Common fear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DB2C1-34B6-457A-A017-464B058D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723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214"/>
                </a:solidFill>
              </a:defRPr>
            </a:pPr>
            <a:r>
              <a:rPr sz="4350" b="1">
                <a:solidFill>
                  <a:srgbClr val="101214"/>
                </a:solidFill>
              </a:rPr>
              <a:t>Not a command economy.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BA080-9AA3-4A9D-A63C-93E1C94B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8676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7406B-7FF0-414E-9218-4B5FE715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86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51D64-F924-4662-8B76-73FD6DAA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7334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214"/>
                </a:solidFill>
              </a:defRPr>
            </a:pPr>
            <a:r>
              <a:rPr sz="2100" b="0">
                <a:solidFill>
                  <a:srgbClr val="101214"/>
                </a:solidFill>
              </a:rPr>
              <a:t>Flow still runs wages, prices, contracts, saving, and enterprise.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01214"/>
                </a:solidFill>
              </a:defRPr>
            </a:pPr>
            <a:r>
              <a:rPr sz="2100" b="0">
                <a:solidFill>
                  <a:srgbClr val="101214"/>
                </a:solidFill>
              </a:rPr>
              <a:t>The design limits what money can buy. It does not abolish markets.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4C7D3-04CF-4666-8E04-7F668528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7630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47142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0E63FC-2860-4C22-974B-4EEC4DD617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93104-0D9C-43CC-9879-D95E9B93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F73A6-C822-4978-AD2C-9559F127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75247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5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888AD-23F3-41C3-8D77-66C510F1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6F0D8-0666-4506-ABD5-5FEBE975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333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42BBB-0F5F-4215-A831-B7789358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725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52EEC-5291-41B7-A3B3-28CD09E9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Common fear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EB58E-5613-4EF0-97DB-AFC856E7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723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214"/>
                </a:solidFill>
              </a:defRPr>
            </a:pPr>
            <a:r>
              <a:rPr sz="4350" b="1">
                <a:solidFill>
                  <a:srgbClr val="101214"/>
                </a:solidFill>
              </a:rPr>
              <a:t>Not social credit.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063EB-CCF4-4359-BF24-FE9BAA17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8676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66CC8-F429-47DE-8A5B-98D18C25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86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D63BE-E0F2-48BD-B682-92E236E2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7334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214"/>
                </a:solidFill>
              </a:defRPr>
            </a:pPr>
            <a:r>
              <a:rPr sz="2100" b="0">
                <a:solidFill>
                  <a:srgbClr val="101214"/>
                </a:solidFill>
              </a:rPr>
              <a:t>Voice and Service Record cannot buy goods, rights, immunity, or survival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01214"/>
                </a:solidFill>
              </a:defRPr>
            </a:pPr>
            <a:r>
              <a:rPr sz="2100" b="0">
                <a:solidFill>
                  <a:srgbClr val="101214"/>
                </a:solidFill>
              </a:rPr>
              <a:t>The constitution explicitly rejects any score of human worth.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DCD0E-910E-4C3A-A55F-2E933B1F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7630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1998161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0E63FC-2860-4C22-974B-4EEC4DD617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D881D-8923-4037-9FFC-AFD8784E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0B75D-18B6-4C0C-B285-38A01328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75247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5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18DF6-EB73-434C-AC3E-80AA4924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0B01D-DC62-4A02-9FA4-4C78DD8C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333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6AFAE-D127-4734-92FB-82C73F39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725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9EAF6-41AE-44FD-A6D2-A9437B8E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Current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60B7D-6FFC-469C-9940-6B2C7C5E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723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214"/>
                </a:solidFill>
              </a:defRPr>
            </a:pPr>
            <a:r>
              <a:rPr sz="4350" b="1">
                <a:solidFill>
                  <a:srgbClr val="101214"/>
                </a:solidFill>
              </a:rPr>
              <a:t>Serious design. Not instant rollout.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E221B-6BE2-467C-B783-ADCCC564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8676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95A94-6E9B-41EE-93B2-C0A8C880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86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8FF9D-A769-426F-BA4D-38532C1E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7334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214"/>
                </a:solidFill>
              </a:defRPr>
            </a:pPr>
            <a:r>
              <a:rPr sz="2100" b="0">
                <a:solidFill>
                  <a:srgbClr val="101214"/>
                </a:solidFill>
              </a:rPr>
              <a:t>What exists: constitutional text, white paper, threat register, patch log, simulations.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01214"/>
                </a:solidFill>
              </a:defRPr>
            </a:pPr>
            <a:r>
              <a:rPr sz="2100" b="0">
                <a:solidFill>
                  <a:srgbClr val="101214"/>
                </a:solidFill>
              </a:rPr>
              <a:t>What does not yet exist: pilot proof, a proven non-coercive identity stack, and a legitimate founding coalition.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D9394-447D-42BA-A942-EF66A008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7630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637299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0E63FC-2860-4C22-974B-4EEC4DD617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BE165-8A3D-4009-AADC-66BE5F18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F98DF-86A4-4BAC-B9CE-DB048B93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75247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5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C5B87-937E-4E77-9314-8E3FD737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59D69-77DD-4DC4-A62E-8E8894E8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333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159F7-C135-43F3-8D42-ED39FF1D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725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BA4C9-5751-46C0-B2E4-5F16C120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Read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FA8AF-B2A1-4CB1-A761-BEBA31AA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723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214"/>
                </a:solidFill>
              </a:defRPr>
            </a:pPr>
            <a:r>
              <a:rPr sz="4350" b="1">
                <a:solidFill>
                  <a:srgbClr val="101214"/>
                </a:solidFill>
              </a:rPr>
              <a:t>Read it. Pressure it. Test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41A77-E710-4613-8010-FF5BAB95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8676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A5878-BDAD-4663-8172-B4856A74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86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50E14-4EED-4687-99DA-2941E7F2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7334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214"/>
                </a:solidFill>
              </a:defRPr>
            </a:pPr>
            <a:r>
              <a:rPr sz="2100" b="0">
                <a:solidFill>
                  <a:srgbClr val="101214"/>
                </a:solidFill>
              </a:rPr>
              <a:t>Start with the One-Page Overview and White Paper.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01214"/>
                </a:solidFill>
              </a:defRPr>
            </a:pPr>
            <a:r>
              <a:rPr sz="2100" b="0">
                <a:solidFill>
                  <a:srgbClr val="101214"/>
                </a:solidFill>
              </a:rPr>
              <a:t>Then read the Threat Register and ask whether the separations can actually hold under stress.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B826C-D403-4016-9035-C0A0E49A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7630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6B49"/>
                </a:solidFill>
              </a:defRPr>
            </a:pPr>
            <a:r>
              <a:rPr sz="1050" b="1">
                <a:solidFill>
                  <a:srgbClr val="116B49"/>
                </a:solidFill>
              </a:rP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1901552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2026-04-23T04:25:48.8450000Z</dcterms:created>
  <dcterms:modified xsi:type="dcterms:W3CDTF">2026-04-23T04:25:48.8450000Z</dcterms:modified>
</coreProperties>
</file>